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232257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llm-d-lens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i="1" dirty="0">
                <a:solidFill>
                  <a:srgbClr val="A9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Easier Deployment with Optimal Configurations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292840" y="6647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7C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480060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AA5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Proposal · RFC llm-d/llm-d#2475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90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095" y="3200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llm-d-lens?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33095" y="841248"/>
            <a:ext cx="1234440" cy="47549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647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0352" y="1161288"/>
            <a:ext cx="11064240" cy="722376"/>
          </a:xfrm>
          <a:prstGeom prst="roundRect">
            <a:avLst>
              <a:gd name="adj" fmla="val 6329"/>
            </a:avLst>
          </a:prstGeom>
          <a:solidFill>
            <a:srgbClr val="F4F5F7"/>
          </a:solidFill>
          <a:ln w="12700">
            <a:solidFill>
              <a:srgbClr val="F4F5F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61288"/>
            <a:ext cx="0" cy="722376"/>
          </a:xfrm>
          <a:prstGeom prst="line">
            <a:avLst/>
          </a:prstGeom>
          <a:noFill/>
          <a:ln w="381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325880"/>
            <a:ext cx="10561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unified workspace that turns llm-d Guides into deployable serving stacks for real workloads and cluster constraints - combining models, infrastructure, AI-powered recommendations, deployment, benchmark, and real-world simulation into one adoption workflow.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" y="2121408"/>
            <a:ext cx="4645152" cy="4096512"/>
          </a:xfrm>
          <a:prstGeom prst="roundRect">
            <a:avLst>
              <a:gd name="adj" fmla="val 2232"/>
            </a:avLst>
          </a:prstGeom>
          <a:solidFill>
            <a:srgbClr val="F4F5F7"/>
          </a:solidFill>
          <a:ln w="1778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61888" y="2121408"/>
            <a:ext cx="5632704" cy="4096512"/>
          </a:xfrm>
          <a:prstGeom prst="roundRect">
            <a:avLst>
              <a:gd name="adj" fmla="val 2232"/>
            </a:avLst>
          </a:prstGeom>
          <a:solidFill>
            <a:srgbClr val="EAF1FF"/>
          </a:solidFill>
          <a:ln w="17780">
            <a:solidFill>
              <a:srgbClr val="A9C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4323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 Points Today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39136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 complexity: </a:t>
            </a:r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many parameters and optimization choices.
</a:t>
            </a:r>
            <a:pPr indent="0" marL="0">
              <a:buNone/>
            </a:pPr>
            <a:r>
              <a:rPr lang="en-US" sz="132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Resource-blind Guides: </a:t>
            </a:r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if considering the real cluster capacity?
</a:t>
            </a:r>
            <a:pPr indent="0" marL="0">
              <a:buNone/>
            </a:pPr>
            <a:r>
              <a:rPr lang="en-US" sz="132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many manual steps: </a:t>
            </a:r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tools and handoffs.
</a:t>
            </a:r>
            <a:pPr indent="0" marL="0">
              <a:buNone/>
            </a:pPr>
            <a:r>
              <a:rPr lang="en-US" sz="132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realistic validation: </a:t>
            </a:r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actual workloads.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303520" y="4160520"/>
            <a:ext cx="466344" cy="0"/>
          </a:xfrm>
          <a:prstGeom prst="line">
            <a:avLst/>
          </a:prstGeom>
          <a:noFill/>
          <a:ln w="13970">
            <a:solidFill>
              <a:srgbClr val="2F6FE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272784" y="24323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llm-d-lens: A Better Adoption Experience</a:t>
            </a:r>
            <a:endParaRPr lang="en-US" sz="1880" dirty="0"/>
          </a:p>
        </p:txBody>
      </p:sp>
      <p:sp>
        <p:nvSpPr>
          <p:cNvPr id="15" name="Text 13"/>
          <p:cNvSpPr/>
          <p:nvPr/>
        </p:nvSpPr>
        <p:spPr>
          <a:xfrm>
            <a:off x="6318504" y="2926080"/>
            <a:ext cx="4919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9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on top: conversational entry point, configuration recommendation, performance diagnosis.</a:t>
            </a:r>
            <a:endParaRPr lang="en-US" sz="1290" dirty="0"/>
          </a:p>
          <a:p>
            <a:pPr marL="152400" indent="-152400">
              <a:buSzPct val="100000"/>
              <a:buChar char="•"/>
            </a:pPr>
            <a:r>
              <a:rPr lang="en-US" sz="129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deployment: deploy the complete serving stacks</a:t>
            </a:r>
            <a:endParaRPr lang="en-US" sz="1290" dirty="0"/>
          </a:p>
          <a:p>
            <a:pPr marL="152400" indent="-152400">
              <a:buSzPct val="100000"/>
              <a:buChar char="•"/>
            </a:pPr>
            <a:r>
              <a:rPr lang="en-US" sz="129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trace replay: realistic workloads evaluation</a:t>
            </a:r>
            <a:endParaRPr lang="en-US" sz="1290" dirty="0"/>
          </a:p>
          <a:p>
            <a:pPr marL="152400" indent="-152400">
              <a:buSzPct val="100000"/>
              <a:buChar char="•"/>
            </a:pPr>
            <a:r>
              <a:rPr lang="en-US" sz="129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from results: evidence-driven iteration.</a:t>
            </a:r>
            <a:endParaRPr lang="en-US" sz="1290" dirty="0"/>
          </a:p>
          <a:p>
            <a:pPr marL="152400" indent="-152400">
              <a:buSzPct val="100000"/>
              <a:buChar char="•"/>
            </a:pPr>
            <a:r>
              <a:rPr lang="en-US" sz="129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management and observability: manage resources and keep monitoring</a:t>
            </a:r>
            <a:endParaRPr lang="en-US" sz="12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90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095" y="3200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llm-d-lens works: from plan to evidence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33095" y="841248"/>
            <a:ext cx="1234440" cy="47549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647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61320" y="20116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EAF1FF"/>
          </a:solidFill>
          <a:ln w="6350">
            <a:solidFill>
              <a:srgbClr val="A9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35056" y="192024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powered capability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561320" y="356616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4F5F7"/>
          </a:solidFill>
          <a:ln w="6350">
            <a:solidFill>
              <a:srgbClr val="5B6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35056" y="347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561320" y="512064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ECFDF3"/>
          </a:solidFill>
          <a:ln w="6350">
            <a:solidFill>
              <a:srgbClr val="86D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5056" y="502920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ecosystem capability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561320" y="667512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F3EEFF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61904" y="717804"/>
            <a:ext cx="155448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735056" y="65836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AI-assistant path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26280" y="1764792"/>
            <a:ext cx="-795528" cy="256032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1764792"/>
            <a:ext cx="804672" cy="256032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30752" y="1764792"/>
            <a:ext cx="0" cy="256032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746504" y="2907792"/>
            <a:ext cx="0" cy="-18288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66544" y="2478024"/>
            <a:ext cx="1033272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194560" y="3236976"/>
            <a:ext cx="905256" cy="-758952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94560" y="3236976"/>
            <a:ext cx="905256" cy="630936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51960" y="2478024"/>
            <a:ext cx="457200" cy="676656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33672" y="2496312"/>
            <a:ext cx="411480" cy="59436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251960" y="3867912"/>
            <a:ext cx="457200" cy="-713232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97880" y="3154680"/>
            <a:ext cx="301752" cy="-36576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97880" y="3154680"/>
            <a:ext cx="301752" cy="41148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25312" y="3172968"/>
            <a:ext cx="219456" cy="-32004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897880" y="3182112"/>
            <a:ext cx="246888" cy="32918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306056" y="2788920"/>
            <a:ext cx="301752" cy="36576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06056" y="3566160"/>
            <a:ext cx="301752" cy="-41148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87768" y="2816352"/>
            <a:ext cx="256032" cy="28346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306056" y="3584448"/>
            <a:ext cx="246888" cy="-36576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8001000" y="2596896"/>
            <a:ext cx="0" cy="-658368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98080" y="1545336"/>
            <a:ext cx="-210312" cy="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391656" y="1545336"/>
            <a:ext cx="-1472184" cy="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522208" y="3154680"/>
            <a:ext cx="832104" cy="0"/>
          </a:xfrm>
          <a:prstGeom prst="line">
            <a:avLst/>
          </a:prstGeom>
          <a:noFill/>
          <a:ln w="13970">
            <a:solidFill>
              <a:srgbClr val="8B98A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19288" y="2596896"/>
            <a:ext cx="0" cy="-58521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8522208" y="3172968"/>
            <a:ext cx="740664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6995160" y="118872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91272" y="1115568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0416" y="1126541"/>
            <a:ext cx="228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</a:t>
            </a:r>
            <a:endParaRPr lang="en-US" sz="530" dirty="0"/>
          </a:p>
        </p:txBody>
      </p:sp>
      <p:sp>
        <p:nvSpPr>
          <p:cNvPr id="42" name="Text 40"/>
          <p:cNvSpPr/>
          <p:nvPr/>
        </p:nvSpPr>
        <p:spPr>
          <a:xfrm>
            <a:off x="7050024" y="1289304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/ RAG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7059168" y="1517904"/>
            <a:ext cx="92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 evidence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retrieval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8275320" y="118872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0160">
            <a:solidFill>
              <a:srgbClr val="A9C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1432" y="1115568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0576" y="1126541"/>
            <a:ext cx="228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</a:t>
            </a:r>
            <a:endParaRPr lang="en-US" sz="530" dirty="0"/>
          </a:p>
        </p:txBody>
      </p:sp>
      <p:sp>
        <p:nvSpPr>
          <p:cNvPr id="47" name="Text 45"/>
          <p:cNvSpPr/>
          <p:nvPr/>
        </p:nvSpPr>
        <p:spPr>
          <a:xfrm>
            <a:off x="8330184" y="1289304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</a:t>
            </a:r>
            <a:endParaRPr lang="en-US" sz="970" dirty="0"/>
          </a:p>
        </p:txBody>
      </p:sp>
      <p:sp>
        <p:nvSpPr>
          <p:cNvPr id="48" name="Text 46"/>
          <p:cNvSpPr/>
          <p:nvPr/>
        </p:nvSpPr>
        <p:spPr>
          <a:xfrm>
            <a:off x="8339328" y="1517904"/>
            <a:ext cx="923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(optional)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1298448" y="2240280"/>
            <a:ext cx="758952" cy="475488"/>
          </a:xfrm>
          <a:prstGeom prst="roundRect">
            <a:avLst>
              <a:gd name="adj" fmla="val 9615"/>
            </a:avLst>
          </a:prstGeom>
          <a:solidFill>
            <a:srgbClr val="F3EE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2400300"/>
            <a:ext cx="649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assistent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1115568" y="2962656"/>
            <a:ext cx="1078992" cy="685800"/>
          </a:xfrm>
          <a:prstGeom prst="roundRect">
            <a:avLst>
              <a:gd name="adj" fmla="val 6667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70432" y="3063240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970" dirty="0"/>
          </a:p>
        </p:txBody>
      </p:sp>
      <p:sp>
        <p:nvSpPr>
          <p:cNvPr id="53" name="Text 51"/>
          <p:cNvSpPr/>
          <p:nvPr/>
        </p:nvSpPr>
        <p:spPr>
          <a:xfrm>
            <a:off x="1179576" y="3291840"/>
            <a:ext cx="950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Model,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Cluster, Workload,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2450592" y="1307592"/>
            <a:ext cx="749808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05456" y="145846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3246120" y="1307592"/>
            <a:ext cx="749808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00984" y="145846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Targets and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Preferences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4041648" y="1307592"/>
            <a:ext cx="749808" cy="4572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36008" y="123444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45152" y="1245413"/>
            <a:ext cx="228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</a:t>
            </a:r>
            <a:endParaRPr lang="en-US" sz="530" dirty="0"/>
          </a:p>
        </p:txBody>
      </p:sp>
      <p:sp>
        <p:nvSpPr>
          <p:cNvPr id="61" name="Text 59"/>
          <p:cNvSpPr/>
          <p:nvPr/>
        </p:nvSpPr>
        <p:spPr>
          <a:xfrm>
            <a:off x="4096512" y="145846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3099816" y="2057400"/>
            <a:ext cx="1060704" cy="795528"/>
          </a:xfrm>
          <a:prstGeom prst="roundRect">
            <a:avLst>
              <a:gd name="adj" fmla="val 5747"/>
            </a:avLst>
          </a:prstGeom>
          <a:solidFill>
            <a:srgbClr val="EAF1FF"/>
          </a:solidFill>
          <a:ln w="10160">
            <a:solidFill>
              <a:srgbClr val="A9C6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54680" y="215798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970" dirty="0"/>
          </a:p>
        </p:txBody>
      </p:sp>
      <p:sp>
        <p:nvSpPr>
          <p:cNvPr id="64" name="Text 62"/>
          <p:cNvSpPr/>
          <p:nvPr/>
        </p:nvSpPr>
        <p:spPr>
          <a:xfrm>
            <a:off x="3163824" y="2386584"/>
            <a:ext cx="932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3099816" y="3575304"/>
            <a:ext cx="1060704" cy="795528"/>
          </a:xfrm>
          <a:prstGeom prst="roundRect">
            <a:avLst>
              <a:gd name="adj" fmla="val 5747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54680" y="3675888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970" dirty="0"/>
          </a:p>
        </p:txBody>
      </p:sp>
      <p:sp>
        <p:nvSpPr>
          <p:cNvPr id="67" name="Text 65"/>
          <p:cNvSpPr/>
          <p:nvPr/>
        </p:nvSpPr>
        <p:spPr>
          <a:xfrm>
            <a:off x="3163824" y="3904488"/>
            <a:ext cx="932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Hand-crafted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740" dirty="0"/>
          </a:p>
        </p:txBody>
      </p:sp>
      <p:sp>
        <p:nvSpPr>
          <p:cNvPr id="68" name="Shape 66"/>
          <p:cNvSpPr/>
          <p:nvPr/>
        </p:nvSpPr>
        <p:spPr>
          <a:xfrm>
            <a:off x="4709160" y="292608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64024" y="302666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970" dirty="0"/>
          </a:p>
        </p:txBody>
      </p:sp>
      <p:sp>
        <p:nvSpPr>
          <p:cNvPr id="70" name="Text 68"/>
          <p:cNvSpPr/>
          <p:nvPr/>
        </p:nvSpPr>
        <p:spPr>
          <a:xfrm>
            <a:off x="4773168" y="3255264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an llm-d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 stack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6199632" y="2459736"/>
            <a:ext cx="1106424" cy="658368"/>
          </a:xfrm>
          <a:prstGeom prst="roundRect">
            <a:avLst>
              <a:gd name="adj" fmla="val 6944"/>
            </a:avLst>
          </a:prstGeom>
          <a:solidFill>
            <a:srgbClr val="ECFDF3"/>
          </a:solidFill>
          <a:ln w="10160">
            <a:solidFill>
              <a:srgbClr val="86D7A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54496" y="25603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llm-d-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</a:t>
            </a:r>
            <a:endParaRPr lang="en-US" sz="970" dirty="0"/>
          </a:p>
        </p:txBody>
      </p:sp>
      <p:sp>
        <p:nvSpPr>
          <p:cNvPr id="73" name="Text 71"/>
          <p:cNvSpPr/>
          <p:nvPr/>
        </p:nvSpPr>
        <p:spPr>
          <a:xfrm>
            <a:off x="6263640" y="278892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</a:t>
            </a:r>
            <a:endParaRPr lang="en-US" sz="740" dirty="0"/>
          </a:p>
        </p:txBody>
      </p:sp>
      <p:sp>
        <p:nvSpPr>
          <p:cNvPr id="74" name="Shape 72"/>
          <p:cNvSpPr/>
          <p:nvPr/>
        </p:nvSpPr>
        <p:spPr>
          <a:xfrm>
            <a:off x="6199632" y="3300984"/>
            <a:ext cx="1106424" cy="658368"/>
          </a:xfrm>
          <a:prstGeom prst="roundRect">
            <a:avLst>
              <a:gd name="adj" fmla="val 6944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54496" y="3401568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Replayer</a:t>
            </a:r>
            <a:endParaRPr lang="en-US" sz="970" dirty="0"/>
          </a:p>
        </p:txBody>
      </p:sp>
      <p:sp>
        <p:nvSpPr>
          <p:cNvPr id="76" name="Text 74"/>
          <p:cNvSpPr/>
          <p:nvPr/>
        </p:nvSpPr>
        <p:spPr>
          <a:xfrm>
            <a:off x="6263640" y="36301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trace replay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simulation</a:t>
            </a:r>
            <a:endParaRPr lang="en-US" sz="740" dirty="0"/>
          </a:p>
        </p:txBody>
      </p:sp>
      <p:sp>
        <p:nvSpPr>
          <p:cNvPr id="77" name="Shape 75"/>
          <p:cNvSpPr/>
          <p:nvPr/>
        </p:nvSpPr>
        <p:spPr>
          <a:xfrm>
            <a:off x="7607808" y="2761488"/>
            <a:ext cx="914400" cy="896112"/>
          </a:xfrm>
          <a:prstGeom prst="roundRect">
            <a:avLst>
              <a:gd name="adj" fmla="val 5102"/>
            </a:avLst>
          </a:prstGeom>
          <a:solidFill>
            <a:srgbClr val="F4F5F7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62672" y="286207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and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970" dirty="0"/>
          </a:p>
        </p:txBody>
      </p:sp>
      <p:sp>
        <p:nvSpPr>
          <p:cNvPr id="79" name="Text 77"/>
          <p:cNvSpPr/>
          <p:nvPr/>
        </p:nvSpPr>
        <p:spPr>
          <a:xfrm>
            <a:off x="7671816" y="3090672"/>
            <a:ext cx="786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Benchmark,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simulation,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monitoring, and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evidence</a:t>
            </a:r>
            <a:endParaRPr lang="en-US" sz="740" dirty="0"/>
          </a:p>
        </p:txBody>
      </p:sp>
      <p:sp>
        <p:nvSpPr>
          <p:cNvPr id="80" name="Shape 78"/>
          <p:cNvSpPr/>
          <p:nvPr/>
        </p:nvSpPr>
        <p:spPr>
          <a:xfrm>
            <a:off x="9354312" y="2926080"/>
            <a:ext cx="1078992" cy="594360"/>
          </a:xfrm>
          <a:prstGeom prst="roundRect">
            <a:avLst>
              <a:gd name="adj" fmla="val 7692"/>
            </a:avLst>
          </a:prstGeom>
          <a:solidFill>
            <a:srgbClr val="ECFDF3"/>
          </a:solidFill>
          <a:ln w="10160">
            <a:solidFill>
              <a:srgbClr val="86D7A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09176" y="302666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llm-d-prism</a:t>
            </a:r>
            <a:endParaRPr lang="en-US" sz="970" dirty="0"/>
          </a:p>
        </p:txBody>
      </p:sp>
      <p:sp>
        <p:nvSpPr>
          <p:cNvPr id="82" name="Text 80"/>
          <p:cNvSpPr/>
          <p:nvPr/>
        </p:nvSpPr>
        <p:spPr>
          <a:xfrm>
            <a:off x="9418320" y="325526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Upload, analyze,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share results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530352" y="4709160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8890">
            <a:solidFill>
              <a:srgbClr val="DDE3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" y="480974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</a:t>
            </a:r>
            <a:endParaRPr lang="en-US" sz="760" dirty="0"/>
          </a:p>
        </p:txBody>
      </p:sp>
      <p:sp>
        <p:nvSpPr>
          <p:cNvPr id="85" name="Text 83"/>
          <p:cNvSpPr/>
          <p:nvPr/>
        </p:nvSpPr>
        <p:spPr>
          <a:xfrm>
            <a:off x="658368" y="498348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Models, Workloads, Clusters</a:t>
            </a:r>
            <a:endParaRPr lang="en-US" sz="1130" dirty="0"/>
          </a:p>
        </p:txBody>
      </p:sp>
      <p:sp>
        <p:nvSpPr>
          <p:cNvPr id="86" name="Text 84"/>
          <p:cNvSpPr/>
          <p:nvPr/>
        </p:nvSpPr>
        <p:spPr>
          <a:xfrm>
            <a:off x="658368" y="5193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Unify model metadata, workload intent, targets, and cluster capacity.</a:t>
            </a:r>
            <a:endParaRPr lang="en-US" sz="840" dirty="0"/>
          </a:p>
        </p:txBody>
      </p:sp>
      <p:sp>
        <p:nvSpPr>
          <p:cNvPr id="87" name="Shape 85"/>
          <p:cNvSpPr/>
          <p:nvPr/>
        </p:nvSpPr>
        <p:spPr>
          <a:xfrm>
            <a:off x="4261104" y="4709160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8890">
            <a:solidFill>
              <a:srgbClr val="DDE3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480974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760" dirty="0"/>
          </a:p>
        </p:txBody>
      </p:sp>
      <p:sp>
        <p:nvSpPr>
          <p:cNvPr id="89" name="Text 87"/>
          <p:cNvSpPr/>
          <p:nvPr/>
        </p:nvSpPr>
        <p:spPr>
          <a:xfrm>
            <a:off x="4389120" y="498348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Agentic Recommendation</a:t>
            </a:r>
            <a:endParaRPr lang="en-US" sz="1130" dirty="0"/>
          </a:p>
        </p:txBody>
      </p:sp>
      <p:sp>
        <p:nvSpPr>
          <p:cNvPr id="90" name="Text 88"/>
          <p:cNvSpPr/>
          <p:nvPr/>
        </p:nvSpPr>
        <p:spPr>
          <a:xfrm>
            <a:off x="4389120" y="5193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resource-valid candidates; use external AI to score and recommend.</a:t>
            </a:r>
            <a:endParaRPr lang="en-US" sz="840" dirty="0"/>
          </a:p>
        </p:txBody>
      </p:sp>
      <p:sp>
        <p:nvSpPr>
          <p:cNvPr id="91" name="Shape 89"/>
          <p:cNvSpPr/>
          <p:nvPr/>
        </p:nvSpPr>
        <p:spPr>
          <a:xfrm>
            <a:off x="7991856" y="4709160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8890">
            <a:solidFill>
              <a:srgbClr val="DDE3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19872" y="480974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</a:t>
            </a:r>
            <a:endParaRPr lang="en-US" sz="760" dirty="0"/>
          </a:p>
        </p:txBody>
      </p:sp>
      <p:sp>
        <p:nvSpPr>
          <p:cNvPr id="93" name="Text 91"/>
          <p:cNvSpPr/>
          <p:nvPr/>
        </p:nvSpPr>
        <p:spPr>
          <a:xfrm>
            <a:off x="8119872" y="498348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Deployment and Evaluation</a:t>
            </a:r>
            <a:endParaRPr lang="en-US" sz="1130" dirty="0"/>
          </a:p>
        </p:txBody>
      </p:sp>
      <p:sp>
        <p:nvSpPr>
          <p:cNvPr id="94" name="Text 92"/>
          <p:cNvSpPr/>
          <p:nvPr/>
        </p:nvSpPr>
        <p:spPr>
          <a:xfrm>
            <a:off x="8119872" y="5193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serving stacks, run evaluations, and monitor performance.</a:t>
            </a:r>
            <a:endParaRPr lang="en-US" sz="840" dirty="0"/>
          </a:p>
        </p:txBody>
      </p:sp>
      <p:sp>
        <p:nvSpPr>
          <p:cNvPr id="95" name="Shape 93"/>
          <p:cNvSpPr/>
          <p:nvPr/>
        </p:nvSpPr>
        <p:spPr>
          <a:xfrm>
            <a:off x="530352" y="5678424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8890">
            <a:solidFill>
              <a:srgbClr val="DDE3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8368" y="577900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</a:t>
            </a:r>
            <a:endParaRPr lang="en-US" sz="760" dirty="0"/>
          </a:p>
        </p:txBody>
      </p:sp>
      <p:sp>
        <p:nvSpPr>
          <p:cNvPr id="97" name="Text 95"/>
          <p:cNvSpPr/>
          <p:nvPr/>
        </p:nvSpPr>
        <p:spPr>
          <a:xfrm>
            <a:off x="658368" y="595274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Replay and Simulation</a:t>
            </a:r>
            <a:endParaRPr lang="en-US" sz="1130" dirty="0"/>
          </a:p>
        </p:txBody>
      </p:sp>
      <p:sp>
        <p:nvSpPr>
          <p:cNvPr id="98" name="Text 96"/>
          <p:cNvSpPr/>
          <p:nvPr/>
        </p:nvSpPr>
        <p:spPr>
          <a:xfrm>
            <a:off x="658368" y="61630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production traces to explore capacity and SLO trade-offs.</a:t>
            </a:r>
            <a:endParaRPr lang="en-US" sz="840" dirty="0"/>
          </a:p>
        </p:txBody>
      </p:sp>
      <p:sp>
        <p:nvSpPr>
          <p:cNvPr id="99" name="Shape 97"/>
          <p:cNvSpPr/>
          <p:nvPr/>
        </p:nvSpPr>
        <p:spPr>
          <a:xfrm>
            <a:off x="4261104" y="5678424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8890">
            <a:solidFill>
              <a:srgbClr val="DDE3E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0" y="577900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760" dirty="0"/>
          </a:p>
        </p:txBody>
      </p:sp>
      <p:sp>
        <p:nvSpPr>
          <p:cNvPr id="101" name="Text 99"/>
          <p:cNvSpPr/>
          <p:nvPr/>
        </p:nvSpPr>
        <p:spPr>
          <a:xfrm>
            <a:off x="4389120" y="595274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Resources and State</a:t>
            </a:r>
            <a:endParaRPr lang="en-US" sz="1130" dirty="0"/>
          </a:p>
        </p:txBody>
      </p:sp>
      <p:sp>
        <p:nvSpPr>
          <p:cNvPr id="102" name="Text 100"/>
          <p:cNvSpPr/>
          <p:nvPr/>
        </p:nvSpPr>
        <p:spPr>
          <a:xfrm>
            <a:off x="4389120" y="61630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serving resources, model caches, deployment state, logs, and metrics.</a:t>
            </a:r>
            <a:endParaRPr lang="en-US" sz="840" dirty="0"/>
          </a:p>
        </p:txBody>
      </p:sp>
      <p:sp>
        <p:nvSpPr>
          <p:cNvPr id="103" name="Shape 101"/>
          <p:cNvSpPr/>
          <p:nvPr/>
        </p:nvSpPr>
        <p:spPr>
          <a:xfrm>
            <a:off x="7991856" y="5678424"/>
            <a:ext cx="3639312" cy="877824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8890">
            <a:solidFill>
              <a:srgbClr val="DDE3E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19872" y="577900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spc="8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760" dirty="0"/>
          </a:p>
        </p:txBody>
      </p:sp>
      <p:sp>
        <p:nvSpPr>
          <p:cNvPr id="105" name="Text 103"/>
          <p:cNvSpPr/>
          <p:nvPr/>
        </p:nvSpPr>
        <p:spPr>
          <a:xfrm>
            <a:off x="8119872" y="595274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as conversational entry point</a:t>
            </a:r>
            <a:endParaRPr lang="en-US" sz="1130" dirty="0"/>
          </a:p>
        </p:txBody>
      </p:sp>
      <p:sp>
        <p:nvSpPr>
          <p:cNvPr id="106" name="Text 104"/>
          <p:cNvSpPr/>
          <p:nvPr/>
        </p:nvSpPr>
        <p:spPr>
          <a:xfrm>
            <a:off x="8119872" y="61630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almost everything in cluster for you.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enxin/llm-d-stacks/proposal-export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232257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i="1" dirty="0">
                <a:solidFill>
                  <a:srgbClr val="A9C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292840" y="6647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7C2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4599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5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RFC: llm-d/llm-d#2475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90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095" y="3200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A2B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Backup: Next Steps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33095" y="841248"/>
            <a:ext cx="1234440" cy="47549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647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0352" y="1892808"/>
            <a:ext cx="11064240" cy="3337560"/>
          </a:xfrm>
          <a:prstGeom prst="roundRect">
            <a:avLst>
              <a:gd name="adj" fmla="val 2192"/>
            </a:avLst>
          </a:prstGeom>
          <a:solidFill>
            <a:srgbClr val="EAF1FF"/>
          </a:solidFill>
          <a:ln w="10160">
            <a:solidFill>
              <a:srgbClr val="A9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267712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Add RAG-based historical evidence retrieval so the Agentic Configuration Adviser can use relevant deployment, evaluation, and simulation results to improve recommendation quality and explain its rationale.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Add role-based access control (RBAC) for platform resources and workflows, including appropriate permissions for MCP tools.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Enhance MCP and the MCP Playground with broader workflow coverage, stronger contextual assistance, and improved operator controls.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llm-d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llm-d-lens Community Proposal - Editable</dc:title>
  <dc:subject>Editable llm-d-lens Community Proposal</dc:subject>
  <dc:creator>llm-d-lens</dc:creator>
  <cp:lastModifiedBy>llm-d-lens</cp:lastModifiedBy>
  <cp:revision>1</cp:revision>
  <dcterms:created xsi:type="dcterms:W3CDTF">2026-09-15T10:45:41Z</dcterms:created>
  <dcterms:modified xsi:type="dcterms:W3CDTF">2026-09-15T10:45:41Z</dcterms:modified>
</cp:coreProperties>
</file>